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67" r:id="rId15"/>
    <p:sldId id="268" r:id="rId16"/>
  </p:sldIdLst>
  <p:sldSz cx="18288000" cy="10287000"/>
  <p:notesSz cx="6858000" cy="9144000"/>
  <p:embeddedFontLst>
    <p:embeddedFont>
      <p:font typeface="ITC Avant Garde Gothic" panose="020B0502020202020204"/>
      <p:regular r:id="rId20"/>
    </p:embeddedFont>
    <p:embeddedFont>
      <p:font typeface="TT Fors" panose="020B0003030001020000"/>
      <p:regular r:id="rId21"/>
    </p:embeddedFont>
    <p:embeddedFont>
      <p:font typeface="TT Fors Bold" panose="020B0003030001020000"/>
      <p:bold r:id="rId22"/>
    </p:embeddedFont>
    <p:embeddedFont>
      <p:font typeface="Canva Sans" panose="020B0503030501040103"/>
      <p:regular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634577" y="0"/>
            <a:ext cx="8204126" cy="10287000"/>
            <a:chOff x="0" y="0"/>
            <a:chExt cx="1271034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1034" cy="1593725"/>
            </a:xfrm>
            <a:custGeom>
              <a:avLst/>
              <a:gdLst/>
              <a:ahLst/>
              <a:cxnLst/>
              <a:rect l="l" t="t" r="r" b="b"/>
              <a:pathLst>
                <a:path w="1271034" h="1593725">
                  <a:moveTo>
                    <a:pt x="0" y="0"/>
                  </a:moveTo>
                  <a:lnTo>
                    <a:pt x="1271034" y="0"/>
                  </a:lnTo>
                  <a:lnTo>
                    <a:pt x="1271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1"/>
              <a:stretch>
                <a:fillRect l="-44099" r="-4409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9540506" y="8495045"/>
            <a:ext cx="4846643" cy="1791955"/>
            <a:chOff x="0" y="0"/>
            <a:chExt cx="6462190" cy="238927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6" name="Freeform 6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Freeform 7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 rot="0">
            <a:off x="666750" y="268127"/>
            <a:ext cx="9763125" cy="3454718"/>
            <a:chOff x="0" y="-104775"/>
            <a:chExt cx="13017500" cy="4606290"/>
          </a:xfrm>
        </p:grpSpPr>
        <p:sp>
          <p:nvSpPr>
            <p:cNvPr id="9" name="TextBox 9"/>
            <p:cNvSpPr txBox="1"/>
            <p:nvPr/>
          </p:nvSpPr>
          <p:spPr>
            <a:xfrm>
              <a:off x="0" y="1184275"/>
              <a:ext cx="13017500" cy="3317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700"/>
                </a:lnSpc>
              </a:pPr>
              <a:r>
                <a:rPr lang="en-US" altLang="en-US" sz="9700" spc="-291">
                  <a:solidFill>
                    <a:srgbClr val="1A237E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Git Advanced</a:t>
              </a:r>
              <a:endParaRPr lang="en-US" altLang="en-US" sz="9700" spc="-291">
                <a:solidFill>
                  <a:srgbClr val="1A237E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  <a:p>
              <a:pPr marL="0" lvl="0" indent="0" algn="l">
                <a:lnSpc>
                  <a:spcPts val="9700"/>
                </a:lnSpc>
              </a:pPr>
              <a:endParaRPr lang="en-US" altLang="en-US" sz="9700" spc="-291">
                <a:solidFill>
                  <a:srgbClr val="1A237E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130175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5433282"/>
            <a:ext cx="7194651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Presented by</a:t>
            </a:r>
            <a:endParaRPr lang="en-US" sz="2800">
              <a:solidFill>
                <a:srgbClr val="000000"/>
              </a:solidFill>
              <a:latin typeface="TT Fors" panose="020B0003030001020000"/>
              <a:ea typeface="TT Fors" panose="020B0003030001020000"/>
              <a:cs typeface="TT Fors" panose="020B0003030001020000"/>
              <a:sym typeface="TT Fors" panose="020B0003030001020000"/>
            </a:endParaRPr>
          </a:p>
          <a:p>
            <a:pPr marL="0" lvl="0" indent="0"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 </a:t>
            </a:r>
            <a:r>
              <a:rPr lang="en-US" sz="2800" b="1">
                <a:solidFill>
                  <a:srgbClr val="F43F06"/>
                </a:solidFill>
                <a:latin typeface="TT Fors Bold" panose="020B0003030001020000"/>
                <a:ea typeface="TT Fors Bold" panose="020B0003030001020000"/>
                <a:cs typeface="TT Fors Bold" panose="020B0003030001020000"/>
                <a:sym typeface="TT Fors Bold" panose="020B0003030001020000"/>
              </a:rPr>
              <a:t>Tech</a:t>
            </a:r>
            <a:r>
              <a:rPr lang="en-US" sz="2800" b="1">
                <a:solidFill>
                  <a:srgbClr val="000000"/>
                </a:solidFill>
                <a:latin typeface="TT Fors Bold" panose="020B0003030001020000"/>
                <a:ea typeface="TT Fors Bold" panose="020B0003030001020000"/>
                <a:cs typeface="TT Fors Bold" panose="020B0003030001020000"/>
                <a:sym typeface="TT Fors Bold" panose="020B0003030001020000"/>
              </a:rPr>
              <a:t>Nova</a:t>
            </a:r>
            <a:r>
              <a:rPr lang="en-US" sz="2800">
                <a:solidFill>
                  <a:srgbClr val="000000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rPr>
              <a:t> Team</a:t>
            </a:r>
            <a:endParaRPr lang="en-US" sz="2800">
              <a:solidFill>
                <a:srgbClr val="000000"/>
              </a:solidFill>
              <a:latin typeface="TT Fors" panose="020B0003030001020000"/>
              <a:ea typeface="TT Fors" panose="020B0003030001020000"/>
              <a:cs typeface="TT Fors" panose="020B0003030001020000"/>
              <a:sym typeface="TT Fors" panose="020B000303000102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78483" y="7098258"/>
            <a:ext cx="1886590" cy="1934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0" lvl="1" indent="-237490" algn="l">
              <a:lnSpc>
                <a:spcPts val="308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Anas</a:t>
            </a:r>
            <a:endParaRPr lang="en-US" sz="22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474980" lvl="1" indent="-237490" algn="l">
              <a:lnSpc>
                <a:spcPts val="308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Disha M T</a:t>
            </a:r>
            <a:endParaRPr lang="en-US" sz="22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474980" lvl="1" indent="-237490" algn="l">
              <a:lnSpc>
                <a:spcPts val="308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Hemanth</a:t>
            </a:r>
            <a:endParaRPr lang="en-US" sz="22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474980" lvl="1" indent="-237490" algn="l">
              <a:lnSpc>
                <a:spcPts val="308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Jeevan</a:t>
            </a:r>
            <a:endParaRPr lang="en-US" sz="22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3080"/>
              </a:lnSpc>
            </a:pPr>
          </a:p>
        </p:txBody>
      </p:sp>
      <p:sp>
        <p:nvSpPr>
          <p:cNvPr id="13" name="TextBox 13"/>
          <p:cNvSpPr txBox="1"/>
          <p:nvPr/>
        </p:nvSpPr>
        <p:spPr>
          <a:xfrm>
            <a:off x="4098030" y="7098258"/>
            <a:ext cx="2701629" cy="154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0" lvl="1" indent="-237490" algn="l">
              <a:lnSpc>
                <a:spcPts val="308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Praj</a:t>
            </a:r>
            <a:r>
              <a:rPr lang="en-US" sz="22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na K</a:t>
            </a:r>
            <a:endParaRPr lang="en-US" sz="22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474980" lvl="1" indent="-237490" algn="l">
              <a:lnSpc>
                <a:spcPts val="308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Presha Shetty </a:t>
            </a:r>
            <a:endParaRPr lang="en-US" sz="22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474980" lvl="1" indent="-237490" algn="l">
              <a:lnSpc>
                <a:spcPts val="308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Sadeem</a:t>
            </a:r>
            <a:endParaRPr lang="en-US" sz="22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308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11201400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spc="-240">
                <a:solidFill>
                  <a:srgbClr val="1A237E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What is Git?</a:t>
            </a:r>
            <a:endParaRPr lang="en-US" sz="8000" spc="-240">
              <a:solidFill>
                <a:srgbClr val="1A237E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185910" y="1953260"/>
            <a:ext cx="13810059" cy="470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400">
                <a:latin typeface="Times New Roman" panose="02020603050405020304" pitchFamily="18" charset="0"/>
                <a:cs typeface="Times New Roman" panose="02020603050405020304" pitchFamily="18" charset="0"/>
              </a:rPr>
              <a:t>Git is a distributed version control system.</a:t>
            </a:r>
            <a:endParaRPr lang="en-US" altLang="en-US" sz="3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3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40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tracking of code changes over time.</a:t>
            </a:r>
            <a:endParaRPr lang="en-US" altLang="en-US" sz="3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3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40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collaboration among multiple developers.</a:t>
            </a:r>
            <a:endParaRPr lang="en-US" altLang="en-US" sz="3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3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40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modern software development.</a:t>
            </a:r>
            <a:endParaRPr lang="en-US" altLang="en-US" sz="3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3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400">
                <a:latin typeface="Times New Roman" panose="02020603050405020304" pitchFamily="18" charset="0"/>
                <a:cs typeface="Times New Roman" panose="02020603050405020304" pitchFamily="18" charset="0"/>
              </a:rPr>
              <a:t>Commonly integrated with platforms such as GitHub.</a:t>
            </a:r>
            <a:endParaRPr lang="en-US" altLang="en-US" sz="3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11201400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spc="-240">
                <a:solidFill>
                  <a:srgbClr val="1A237E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What is a Git Repository</a:t>
            </a:r>
            <a:endParaRPr lang="en-US" sz="8000" spc="-240">
              <a:solidFill>
                <a:srgbClr val="1A237E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28700" y="2309119"/>
            <a:ext cx="16856989" cy="6381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GB" sz="3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Git Repository (Repo) is:</a:t>
            </a:r>
            <a:endParaRPr lang="en-GB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6800"/>
              </a:lnSpc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project folder tracked by Git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6800"/>
              </a:lnSpc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Contains all files + history of changes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6800"/>
              </a:lnSpc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Has hidden .git folder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6800"/>
              </a:lnSpc>
            </a:pPr>
            <a:r>
              <a:rPr lang="en-GB" sz="3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Two types:</a:t>
            </a:r>
            <a:endParaRPr lang="en-GB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6800"/>
              </a:lnSpc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Repository – On your computer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6800"/>
              </a:lnSpc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Remote Repository – On platforms like GitHub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11201400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spc="-240">
                <a:solidFill>
                  <a:srgbClr val="1A237E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Git Setup Commands</a:t>
            </a:r>
            <a:endParaRPr lang="en-US" sz="8000" spc="-240">
              <a:solidFill>
                <a:srgbClr val="1A237E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630813" y="2093743"/>
            <a:ext cx="13697902" cy="470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altLang="en-US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 config --global user.name "Your Name"</a:t>
            </a:r>
            <a:endParaRPr lang="en-GB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altLang="en-US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 config --global </a:t>
            </a:r>
            <a:r>
              <a:rPr lang="en-GB" altLang="en-US" sz="3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user.email</a:t>
            </a:r>
            <a:r>
              <a:rPr lang="en-GB" altLang="en-US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"your@email.com"</a:t>
            </a:r>
            <a:endParaRPr lang="en-GB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altLang="en-US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 config –list</a:t>
            </a:r>
            <a:endParaRPr lang="en-GB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GB" altLang="en-US" sz="3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Initialize Git: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altLang="en-US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git </a:t>
            </a:r>
            <a:r>
              <a:rPr lang="en-IN" altLang="en-US" sz="3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init</a:t>
            </a:r>
            <a:endParaRPr lang="en-IN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IN" altLang="en-US" sz="3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Clone existing repo: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git clone &lt;repository-</a:t>
            </a:r>
            <a:r>
              <a:rPr lang="en-IN" sz="3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url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11201400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spc="-240">
                <a:solidFill>
                  <a:srgbClr val="1A237E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Basi Git Commands</a:t>
            </a:r>
            <a:endParaRPr lang="en-US" sz="8000" spc="-240">
              <a:solidFill>
                <a:srgbClr val="1A237E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28700" y="1698626"/>
            <a:ext cx="11201400" cy="470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 status        # Check changes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 add file.txt  # Add file to staging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 add .         # Add all files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 commit -m "Message"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 log           # View history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 diff          # Show changes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11201400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spc="-240">
                <a:solidFill>
                  <a:srgbClr val="1A237E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Master in Git Core</a:t>
            </a:r>
            <a:endParaRPr lang="en-US" sz="8000" spc="-240">
              <a:solidFill>
                <a:srgbClr val="1A237E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219439" y="2171634"/>
            <a:ext cx="13603010" cy="3923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3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What is Branching in Git?</a:t>
            </a:r>
            <a:endParaRPr lang="en-GB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branch is: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separate version of your project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Used to develop features safely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Default branch: </a:t>
            </a: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main (or </a:t>
            </a: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master)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11201400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spc="-240">
                <a:solidFill>
                  <a:srgbClr val="1A237E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Why Branching Matters?</a:t>
            </a:r>
            <a:endParaRPr lang="en-US" sz="8000" spc="-240">
              <a:solidFill>
                <a:srgbClr val="1A237E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676400" y="3010061"/>
            <a:ext cx="11435478" cy="5493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Develop features independently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Fix bugs without affecting main code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Work in teams safely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Avoid breaking production code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3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Example:</a:t>
            </a:r>
            <a:endParaRPr lang="en-GB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main → Stable code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feature-login → New feature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11201400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spc="-240">
                <a:solidFill>
                  <a:srgbClr val="1A237E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Branching Commands</a:t>
            </a:r>
            <a:endParaRPr lang="en-US" sz="8000" spc="-240">
              <a:solidFill>
                <a:srgbClr val="1A237E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28700" y="3208051"/>
            <a:ext cx="17259300" cy="5231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 branch                # List branches</a:t>
            </a:r>
            <a:endParaRPr lang="en-US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 branch feature-name   # Create branch</a:t>
            </a:r>
            <a:endParaRPr lang="en-US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 checkout feature-name # Switch branch</a:t>
            </a:r>
            <a:endParaRPr lang="en-US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 checkout -b </a:t>
            </a:r>
            <a:r>
              <a:rPr lang="en-US" altLang="en-US" sz="3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newbranch</a:t>
            </a: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# Create + switch</a:t>
            </a:r>
            <a:endParaRPr lang="en-US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 branch -d </a:t>
            </a:r>
            <a:r>
              <a:rPr lang="en-US" altLang="en-US" sz="3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branchname</a:t>
            </a: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# Delete branch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11201400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spc="-240">
                <a:solidFill>
                  <a:srgbClr val="1A237E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Merging inGit</a:t>
            </a:r>
            <a:endParaRPr lang="en-US" sz="8000" spc="-240">
              <a:solidFill>
                <a:srgbClr val="1A237E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576057" y="1796115"/>
            <a:ext cx="10181034" cy="6278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Combining one branch into another.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GB" sz="3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Example:</a:t>
            </a:r>
            <a:endParaRPr lang="en-GB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git checkout main</a:t>
            </a:r>
            <a:endParaRPr lang="en-I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git merge feature-login</a:t>
            </a:r>
            <a:endParaRPr lang="en-I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GB" sz="3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Types:</a:t>
            </a:r>
            <a:endParaRPr lang="en-GB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Fast-forward merge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Three-way merge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sz="3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11201400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spc="-240">
                <a:solidFill>
                  <a:srgbClr val="1A237E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What is Merge Conflict</a:t>
            </a:r>
            <a:endParaRPr lang="en-US" sz="8000" spc="-240">
              <a:solidFill>
                <a:srgbClr val="1A237E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28700" y="3122192"/>
            <a:ext cx="9525" cy="788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</a:p>
        </p:txBody>
      </p:sp>
      <p:sp>
        <p:nvSpPr>
          <p:cNvPr id="8" name="TextBox 8"/>
          <p:cNvSpPr txBox="1"/>
          <p:nvPr/>
        </p:nvSpPr>
        <p:spPr>
          <a:xfrm>
            <a:off x="1523835" y="2400197"/>
            <a:ext cx="14670643" cy="7063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merge conflict happens when: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Two branches change the same line of code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 cannot decide automatically.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GB" sz="3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 conflict:</a:t>
            </a:r>
            <a:endParaRPr lang="en-GB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4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</a:t>
            </a:r>
            <a:r>
              <a:rPr lang="en-GB" altLang="en-US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&lt;&lt;&lt;&lt;&lt;&lt;&lt; HEAD</a:t>
            </a:r>
            <a:endParaRPr lang="en-GB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Hello World</a:t>
            </a:r>
            <a:endParaRPr lang="en-GB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=======</a:t>
            </a:r>
            <a:endParaRPr lang="en-GB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Hello Git</a:t>
            </a:r>
            <a:endParaRPr lang="en-GB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&gt;&gt;&gt;&gt;&gt;&gt;&gt; feature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11201400" cy="2051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spc="-240">
                <a:solidFill>
                  <a:srgbClr val="1A237E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Resloving in Merge Conflict</a:t>
            </a:r>
            <a:endParaRPr lang="en-US" sz="8000" spc="-240">
              <a:solidFill>
                <a:srgbClr val="1A237E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28700" y="2893234"/>
            <a:ext cx="12813983" cy="4636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GB" sz="3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Steps:</a:t>
            </a:r>
            <a:endParaRPr lang="en-GB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ts val="6800"/>
              </a:lnSpc>
              <a:buFont typeface="Arial" panose="020B0604020202020204" pitchFamily="34" charset="0"/>
              <a:buChar char="•"/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Open conflicted file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ts val="6800"/>
              </a:lnSpc>
              <a:buFont typeface="Arial" panose="020B0604020202020204" pitchFamily="34" charset="0"/>
              <a:buChar char="•"/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Edit manually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ts val="6800"/>
              </a:lnSpc>
              <a:buFont typeface="Arial" panose="020B0604020202020204" pitchFamily="34" charset="0"/>
              <a:buChar char="•"/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Remove conflict markers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ts val="6800"/>
              </a:lnSpc>
              <a:buFont typeface="Arial" panose="020B0604020202020204" pitchFamily="34" charset="0"/>
              <a:buChar char="•"/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Add file again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11201400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spc="-240">
                <a:solidFill>
                  <a:srgbClr val="1A237E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What is .gitignore</a:t>
            </a:r>
            <a:endParaRPr lang="en-US" sz="8000" spc="-240">
              <a:solidFill>
                <a:srgbClr val="1A237E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576057" y="1996140"/>
            <a:ext cx="12691399" cy="9695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en-GB" sz="3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gitignore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tells Git:</a:t>
            </a: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Which files should NOT be tracked.</a:t>
            </a: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Common examples:</a:t>
            </a:r>
            <a:endParaRPr lang="en-GB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GB" sz="3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node_modules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.env</a:t>
            </a: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*.log</a:t>
            </a: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GB" sz="30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pycache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*.class</a:t>
            </a: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gitignore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Patterns &amp; Best Practices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*.log          # Ignore all log files</a:t>
            </a: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temp/          # Ignore folder</a:t>
            </a: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!important.log # Do not ignore this file</a:t>
            </a: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11201400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spc="-240">
                <a:solidFill>
                  <a:srgbClr val="1A237E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GitHub Workflow</a:t>
            </a:r>
            <a:endParaRPr lang="en-US" sz="8000" spc="-240">
              <a:solidFill>
                <a:srgbClr val="1A237E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576057" y="1996140"/>
            <a:ext cx="12691399" cy="655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Clone repo</a:t>
            </a: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393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Create branch</a:t>
            </a: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393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Make changes</a:t>
            </a: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393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Commit</a:t>
            </a: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393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Push branch</a:t>
            </a: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393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Create Pull Request</a:t>
            </a: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393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Review &amp; Merge</a:t>
            </a: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3930"/>
              </a:lnSpc>
            </a:pP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</a:t>
            </a:r>
            <a:endParaRPr lang="en-GB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393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 clone </a:t>
            </a:r>
            <a:r>
              <a:rPr lang="en-GB" sz="3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url</a:t>
            </a: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393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 checkout -b feature-login</a:t>
            </a: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393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 add .</a:t>
            </a: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393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 commit -m "Added login feature"</a:t>
            </a: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393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 push origin feature-login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429875" y="0"/>
            <a:ext cx="7858125" cy="10287000"/>
            <a:chOff x="0" y="0"/>
            <a:chExt cx="1764443" cy="23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4443" cy="2309817"/>
            </a:xfrm>
            <a:custGeom>
              <a:avLst/>
              <a:gdLst/>
              <a:ahLst/>
              <a:cxnLst/>
              <a:rect l="l" t="t" r="r" b="b"/>
              <a:pathLst>
                <a:path w="1764443" h="2309817">
                  <a:moveTo>
                    <a:pt x="0" y="0"/>
                  </a:moveTo>
                  <a:lnTo>
                    <a:pt x="1764443" y="0"/>
                  </a:lnTo>
                  <a:lnTo>
                    <a:pt x="1764443" y="2309817"/>
                  </a:lnTo>
                  <a:lnTo>
                    <a:pt x="0" y="2309817"/>
                  </a:lnTo>
                  <a:close/>
                </a:path>
              </a:pathLst>
            </a:custGeom>
            <a:blipFill>
              <a:blip r:embed="rId1"/>
              <a:stretch>
                <a:fillRect t="-421" b="-42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666750" y="666750"/>
            <a:ext cx="8324850" cy="3171825"/>
            <a:chOff x="0" y="0"/>
            <a:chExt cx="11099800" cy="4229100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1099800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1A237E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Any questions for us?</a:t>
              </a:r>
              <a:endParaRPr lang="en-US" sz="8000" u="none" strike="noStrike" spc="-240">
                <a:solidFill>
                  <a:srgbClr val="1A237E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14725"/>
              <a:ext cx="11068284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 u="none" strike="noStrike" spc="-95">
                  <a:solidFill>
                    <a:srgbClr val="000000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Thank you for your attention and interest!</a:t>
              </a:r>
              <a:endParaRPr lang="en-US" sz="3200" u="none" strike="noStrike" spc="-95">
                <a:solidFill>
                  <a:srgbClr val="000000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2570</Words>
  <Application>WPS Presentation</Application>
  <PresentationFormat>On-screen Show (4:3)</PresentationFormat>
  <Paragraphs>156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SimSun</vt:lpstr>
      <vt:lpstr>Wingdings</vt:lpstr>
      <vt:lpstr>ITC Avant Garde Gothic</vt:lpstr>
      <vt:lpstr>TT Fors</vt:lpstr>
      <vt:lpstr>TT Fors Bold</vt:lpstr>
      <vt:lpstr>Arial</vt:lpstr>
      <vt:lpstr>Canva Sans</vt:lpstr>
      <vt:lpstr>Times New Roman</vt:lpstr>
      <vt:lpstr>Times New Roman Bold</vt:lpstr>
      <vt:lpstr>Canva Sans Bold</vt:lpstr>
      <vt:lpstr>Calibri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Introduction to SQL &amp; SELECT Queries</dc:title>
  <dc:creator/>
  <dc:description>Presentation - Introduction to SQL &amp; SELECT Queries</dc:description>
  <cp:lastModifiedBy>Disha Gowda</cp:lastModifiedBy>
  <cp:revision>3</cp:revision>
  <dcterms:created xsi:type="dcterms:W3CDTF">2006-08-16T00:00:00Z</dcterms:created>
  <dcterms:modified xsi:type="dcterms:W3CDTF">2026-02-23T05:15:40Z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BAFEADDE943A4A9DB26F00462219D11D_13</vt:lpwstr>
  </property>
  <property fmtid="{D5CDD505-2E9C-101B-9397-08002B2CF9AE}" pid="3" name="KSOProductBuildVer">
    <vt:lpwstr>1033-12.2.0.23196</vt:lpwstr>
  </property>
</Properties>
</file>